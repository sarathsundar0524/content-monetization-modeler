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5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2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69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45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06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9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25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0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7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368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50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/>
              <a:t> YouTube Ad Revenue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04386" y="5594553"/>
            <a:ext cx="2718619" cy="68825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Presented</a:t>
            </a:r>
            <a:r>
              <a:rPr dirty="0"/>
              <a:t> by: </a:t>
            </a:r>
            <a:endParaRPr lang="en-US" dirty="0"/>
          </a:p>
          <a:p>
            <a:r>
              <a:rPr lang="en-GB" dirty="0"/>
              <a:t>T SARATH SUNDAR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4632"/>
            <a:ext cx="8229600" cy="929389"/>
          </a:xfrm>
        </p:spPr>
        <p:txBody>
          <a:bodyPr/>
          <a:lstStyle/>
          <a:p>
            <a:pPr algn="ctr"/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34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b="1" dirty="0"/>
              <a:t>Objective: </a:t>
            </a:r>
            <a:endParaRPr lang="en-US" sz="2400" b="1" dirty="0"/>
          </a:p>
          <a:p>
            <a:pPr marL="0" indent="0">
              <a:buNone/>
            </a:pPr>
            <a:r>
              <a:rPr sz="2400" dirty="0"/>
              <a:t>Build a machine learning model to predict YouTube Ad Revenue using engagement metrics.</a:t>
            </a:r>
          </a:p>
          <a:p>
            <a:endParaRPr sz="2400" b="1" dirty="0"/>
          </a:p>
          <a:p>
            <a:pPr marL="0" indent="0">
              <a:buNone/>
            </a:pPr>
            <a:r>
              <a:rPr sz="2400" b="1" dirty="0"/>
              <a:t>Business Impact:</a:t>
            </a:r>
          </a:p>
          <a:p>
            <a:r>
              <a:rPr sz="2400" dirty="0"/>
              <a:t>Helps creators forecast earnings before publishing.</a:t>
            </a:r>
          </a:p>
          <a:p>
            <a:r>
              <a:rPr sz="2400" dirty="0"/>
              <a:t>Supports marketing and ad budgeting decisions.</a:t>
            </a:r>
          </a:p>
          <a:p>
            <a:r>
              <a:rPr sz="2400" dirty="0"/>
              <a:t>Provides actionable insights on engagement-driven monetization.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97964"/>
            <a:ext cx="8229600" cy="1190844"/>
          </a:xfrm>
        </p:spPr>
        <p:txBody>
          <a:bodyPr/>
          <a:lstStyle/>
          <a:p>
            <a:pPr algn="ctr"/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88807"/>
            <a:ext cx="8229600" cy="4525963"/>
          </a:xfrm>
        </p:spPr>
        <p:txBody>
          <a:bodyPr>
            <a:normAutofit/>
          </a:bodyPr>
          <a:lstStyle/>
          <a:p>
            <a:r>
              <a:rPr sz="2400" dirty="0"/>
              <a:t>Dataset Size: 122,400 records, 12 features.</a:t>
            </a:r>
          </a:p>
          <a:p>
            <a:r>
              <a:rPr sz="2400" dirty="0"/>
              <a:t>Columns: views, likes, comments, </a:t>
            </a:r>
            <a:r>
              <a:rPr sz="2400" dirty="0" err="1"/>
              <a:t>watch_time_minutes</a:t>
            </a:r>
            <a:r>
              <a:rPr sz="2400" dirty="0"/>
              <a:t>, </a:t>
            </a:r>
            <a:r>
              <a:rPr sz="2400" dirty="0" err="1"/>
              <a:t>video_length_minutes</a:t>
            </a:r>
            <a:r>
              <a:rPr sz="2400" dirty="0"/>
              <a:t>, subscribers, category, device, country, </a:t>
            </a:r>
            <a:r>
              <a:rPr sz="2400" dirty="0" err="1"/>
              <a:t>ad_revenue_usd</a:t>
            </a:r>
            <a:r>
              <a:rPr sz="2400" dirty="0"/>
              <a:t>.</a:t>
            </a:r>
          </a:p>
          <a:p>
            <a:r>
              <a:rPr sz="2400" dirty="0"/>
              <a:t>Data Cleaning: Removed duplicates, handled missing values with mean imputation.</a:t>
            </a:r>
          </a:p>
          <a:p>
            <a:r>
              <a:rPr sz="2400" dirty="0"/>
              <a:t>Outliers: </a:t>
            </a:r>
            <a:r>
              <a:rPr lang="en-US" sz="2400" dirty="0"/>
              <a:t>Verified the outliers distribution and calculated its skewness and kurtosis and found within the range</a:t>
            </a:r>
            <a:endParaRPr sz="2400" dirty="0"/>
          </a:p>
          <a:p>
            <a:r>
              <a:rPr sz="2400" dirty="0"/>
              <a:t>Feature engineering added </a:t>
            </a:r>
            <a:r>
              <a:rPr sz="2400" dirty="0" err="1"/>
              <a:t>engagement_rate</a:t>
            </a:r>
            <a:r>
              <a:rPr sz="2400" dirty="0"/>
              <a:t> and </a:t>
            </a:r>
            <a:r>
              <a:rPr sz="2400" dirty="0" err="1"/>
              <a:t>avg_watch_time_per_view</a:t>
            </a:r>
            <a:r>
              <a:rPr sz="2400" dirty="0"/>
              <a:t> for richer modeling.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45098"/>
            <a:ext cx="8660876" cy="1443593"/>
          </a:xfrm>
        </p:spPr>
        <p:txBody>
          <a:bodyPr/>
          <a:lstStyle/>
          <a:p>
            <a:pPr algn="ctr"/>
            <a:r>
              <a:rPr dirty="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8691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Created new features:</a:t>
            </a:r>
          </a:p>
          <a:p>
            <a:r>
              <a:rPr sz="2400" dirty="0" err="1"/>
              <a:t>engagement_rate</a:t>
            </a:r>
            <a:r>
              <a:rPr sz="2400" dirty="0"/>
              <a:t> = (likes + comments) / views</a:t>
            </a:r>
          </a:p>
          <a:p>
            <a:r>
              <a:rPr sz="2400" dirty="0" err="1"/>
              <a:t>avg_watch_time_per_view</a:t>
            </a:r>
            <a:r>
              <a:rPr sz="2400" dirty="0"/>
              <a:t> = </a:t>
            </a:r>
            <a:r>
              <a:rPr sz="2400" dirty="0" err="1"/>
              <a:t>watch_time_minutes</a:t>
            </a:r>
            <a:r>
              <a:rPr sz="2400" dirty="0"/>
              <a:t> / views</a:t>
            </a:r>
          </a:p>
          <a:p>
            <a:r>
              <a:rPr sz="2400" dirty="0"/>
              <a:t>Categorical encoding: </a:t>
            </a:r>
            <a:r>
              <a:rPr sz="2400" dirty="0" err="1"/>
              <a:t>OneHotEncoder</a:t>
            </a:r>
            <a:r>
              <a:rPr sz="2400" dirty="0"/>
              <a:t> for category, device, and country.</a:t>
            </a:r>
          </a:p>
          <a:p>
            <a:r>
              <a:rPr sz="2400" dirty="0"/>
              <a:t>Scaling: StandardScaler for continuous features.</a:t>
            </a:r>
          </a:p>
          <a:p>
            <a:r>
              <a:rPr sz="2400" dirty="0"/>
              <a:t>These transformations improved Linear Regression performance (R² increased </a:t>
            </a:r>
            <a:r>
              <a:rPr lang="en-US" sz="2400" dirty="0"/>
              <a:t>to </a:t>
            </a:r>
            <a:r>
              <a:rPr sz="2400" dirty="0"/>
              <a:t>0.</a:t>
            </a:r>
            <a:r>
              <a:rPr lang="en-US" sz="2400" dirty="0"/>
              <a:t>95</a:t>
            </a:r>
            <a:r>
              <a:rPr sz="2400" dirty="0"/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" y="484632"/>
            <a:ext cx="8642023" cy="1609344"/>
          </a:xfrm>
        </p:spPr>
        <p:txBody>
          <a:bodyPr/>
          <a:lstStyle/>
          <a:p>
            <a:pPr algn="ctr"/>
            <a:r>
              <a:rPr dirty="0"/>
              <a:t>EDA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3578"/>
            <a:ext cx="8229600" cy="3782505"/>
          </a:xfrm>
        </p:spPr>
        <p:txBody>
          <a:bodyPr>
            <a:normAutofit/>
          </a:bodyPr>
          <a:lstStyle/>
          <a:p>
            <a:endParaRPr lang="en-GB" sz="2400" dirty="0"/>
          </a:p>
          <a:p>
            <a:r>
              <a:rPr sz="2400" dirty="0"/>
              <a:t>Strong positive correlation between </a:t>
            </a:r>
            <a:r>
              <a:rPr lang="en-US" sz="2400" dirty="0"/>
              <a:t>likes</a:t>
            </a:r>
            <a:r>
              <a:rPr sz="2400" dirty="0"/>
              <a:t>, </a:t>
            </a:r>
            <a:r>
              <a:rPr sz="2400" dirty="0" err="1"/>
              <a:t>watch</a:t>
            </a:r>
            <a:r>
              <a:rPr lang="en-US" sz="2400" dirty="0" err="1"/>
              <a:t>_</a:t>
            </a:r>
            <a:r>
              <a:rPr sz="2400" dirty="0" err="1"/>
              <a:t>time</a:t>
            </a:r>
            <a:r>
              <a:rPr lang="en-US" sz="2400" dirty="0" err="1"/>
              <a:t>_minutes</a:t>
            </a:r>
            <a:r>
              <a:rPr sz="2400" dirty="0"/>
              <a:t> and </a:t>
            </a:r>
            <a:r>
              <a:rPr sz="2400" dirty="0" err="1"/>
              <a:t>ad</a:t>
            </a:r>
            <a:r>
              <a:rPr lang="en-US" sz="2400" dirty="0" err="1"/>
              <a:t>_</a:t>
            </a:r>
            <a:r>
              <a:rPr sz="2400" dirty="0" err="1"/>
              <a:t>revenue</a:t>
            </a:r>
            <a:r>
              <a:rPr lang="en-US" sz="2400" dirty="0" err="1"/>
              <a:t>_usd</a:t>
            </a:r>
            <a:r>
              <a:rPr sz="2400" dirty="0"/>
              <a:t>.</a:t>
            </a:r>
          </a:p>
          <a:p>
            <a:r>
              <a:rPr sz="2400" dirty="0"/>
              <a:t>Engagement (</a:t>
            </a:r>
            <a:r>
              <a:rPr lang="en-US" sz="2400" dirty="0"/>
              <a:t>views</a:t>
            </a:r>
            <a:r>
              <a:rPr sz="2400" dirty="0"/>
              <a:t>/comments) proved to be a better predictor than </a:t>
            </a:r>
            <a:r>
              <a:rPr lang="en-US" sz="2400" dirty="0"/>
              <a:t>likes</a:t>
            </a:r>
            <a:r>
              <a:rPr sz="2400" dirty="0"/>
              <a:t> count alone.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097" y="484632"/>
            <a:ext cx="8213103" cy="1609344"/>
          </a:xfrm>
        </p:spPr>
        <p:txBody>
          <a:bodyPr/>
          <a:lstStyle/>
          <a:p>
            <a:pPr algn="ctr"/>
            <a:r>
              <a:rPr dirty="0"/>
              <a:t>Model Comparison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7F695F-F221-2111-CB13-47316B2A5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383" y="2573518"/>
            <a:ext cx="7339234" cy="20764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09" y="484632"/>
            <a:ext cx="8279091" cy="1419582"/>
          </a:xfrm>
        </p:spPr>
        <p:txBody>
          <a:bodyPr/>
          <a:lstStyle/>
          <a:p>
            <a:pPr algn="ctr"/>
            <a:r>
              <a:rPr dirty="0"/>
              <a:t>Model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 fontScale="85000" lnSpcReduction="10000"/>
          </a:bodyPr>
          <a:lstStyle/>
          <a:p>
            <a:r>
              <a:rPr lang="en-US" altLang="en-US" sz="2400" dirty="0"/>
              <a:t>Linear Regression achieved the highest R² (0.95) and the lowest RMSE (13.48) and MAE (3.11) — proving to be the best and most stable model.</a:t>
            </a:r>
          </a:p>
          <a:p>
            <a:r>
              <a:rPr lang="en-US" altLang="en-US" sz="2400" dirty="0"/>
              <a:t>Gradient Boosting delivered nearly identical accuracy but required longer training time .</a:t>
            </a:r>
          </a:p>
          <a:p>
            <a:r>
              <a:rPr lang="en-US" altLang="en-US" sz="2400" dirty="0"/>
              <a:t>Random Forest performed consistently but added computational cost.</a:t>
            </a:r>
          </a:p>
          <a:p>
            <a:r>
              <a:rPr lang="en-US" altLang="en-US" sz="2400" dirty="0" err="1"/>
              <a:t>XGBoost</a:t>
            </a:r>
            <a:r>
              <a:rPr lang="en-US" altLang="en-US" sz="2400" dirty="0"/>
              <a:t> showed strong generalization, but its higher MAE (4.22) indicates sensitivity to outliers.</a:t>
            </a:r>
          </a:p>
          <a:p>
            <a:r>
              <a:rPr lang="en-US" altLang="en-US" sz="2400" dirty="0"/>
              <a:t>Decision Tree underperformed (R² = 0.89) due to overfitting and high variance in predictions.</a:t>
            </a:r>
          </a:p>
          <a:p>
            <a:r>
              <a:rPr lang="en-US" altLang="en-US" sz="2400" dirty="0"/>
              <a:t>Linear Regression remains ideal for deployment — it balances accuracy, simplicity, and business interpretability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097" y="484632"/>
            <a:ext cx="8606671" cy="1457290"/>
          </a:xfrm>
        </p:spPr>
        <p:txBody>
          <a:bodyPr>
            <a:normAutofit/>
          </a:bodyPr>
          <a:lstStyle/>
          <a:p>
            <a:pPr algn="ctr"/>
            <a:r>
              <a:rPr dirty="0"/>
              <a:t>Deployed Model –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Deployed using </a:t>
            </a:r>
            <a:r>
              <a:rPr sz="2400" dirty="0" err="1"/>
              <a:t>Streamlit</a:t>
            </a:r>
            <a:r>
              <a:rPr sz="2400" dirty="0"/>
              <a:t> for real-time ad revenue prediction.</a:t>
            </a:r>
          </a:p>
          <a:p>
            <a:r>
              <a:rPr sz="2400" dirty="0"/>
              <a:t>Integrated with YouTube Data API to fetch live video metrics.</a:t>
            </a:r>
          </a:p>
          <a:p>
            <a:r>
              <a:rPr sz="2400" dirty="0"/>
              <a:t>Two input modes:</a:t>
            </a:r>
            <a:endParaRPr lang="en-US" sz="2400" dirty="0"/>
          </a:p>
          <a:p>
            <a:pPr marL="400050" lvl="1" indent="0">
              <a:buNone/>
            </a:pPr>
            <a:r>
              <a:rPr sz="2400" dirty="0"/>
              <a:t>1. Manual Entry (user inputs features)</a:t>
            </a:r>
            <a:endParaRPr lang="en-US" sz="2400" dirty="0"/>
          </a:p>
          <a:p>
            <a:pPr marL="400050" lvl="1" indent="0">
              <a:buNone/>
            </a:pPr>
            <a:r>
              <a:rPr sz="2400" dirty="0"/>
              <a:t>2. YouTube Link (auto-fetch via API)</a:t>
            </a:r>
          </a:p>
          <a:p>
            <a:r>
              <a:rPr sz="2400" dirty="0"/>
              <a:t>Outputs include revenue prediction and engagement insights.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499" y="484632"/>
            <a:ext cx="8071701" cy="1410156"/>
          </a:xfrm>
        </p:spPr>
        <p:txBody>
          <a:bodyPr/>
          <a:lstStyle/>
          <a:p>
            <a:pPr algn="ctr"/>
            <a:r>
              <a:rPr dirty="0"/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Average ad revenue per video ≈ $250 USD.</a:t>
            </a:r>
          </a:p>
          <a:p>
            <a:r>
              <a:rPr sz="2400" dirty="0"/>
              <a:t>Engagement rate drives monetization more than total views.</a:t>
            </a:r>
          </a:p>
          <a:p>
            <a:r>
              <a:rPr sz="2400" dirty="0"/>
              <a:t>Longer watch time per view strongly correlated with higher earnings.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658" y="484632"/>
            <a:ext cx="8156542" cy="1372448"/>
          </a:xfrm>
        </p:spPr>
        <p:txBody>
          <a:bodyPr/>
          <a:lstStyle/>
          <a:p>
            <a:pPr algn="ctr"/>
            <a:r>
              <a:rPr dirty="0"/>
              <a:t>Learnings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Linear Regression provided accuracy and interpretability ideal for deployment.</a:t>
            </a:r>
          </a:p>
          <a:p>
            <a:r>
              <a:rPr lang="en-IN" sz="2400" dirty="0"/>
              <a:t>E</a:t>
            </a:r>
            <a:r>
              <a:rPr sz="2400" dirty="0" err="1"/>
              <a:t>nsemble</a:t>
            </a:r>
            <a:r>
              <a:rPr sz="2400" dirty="0"/>
              <a:t> models improved slightly but not worth added complexity.</a:t>
            </a:r>
          </a:p>
          <a:p>
            <a:r>
              <a:rPr sz="2400" dirty="0"/>
              <a:t>Feature engineering played a major role in model success.</a:t>
            </a:r>
          </a:p>
          <a:p>
            <a:r>
              <a:rPr sz="2400" dirty="0" err="1"/>
              <a:t>Streamlit</a:t>
            </a:r>
            <a:r>
              <a:rPr sz="2400" dirty="0"/>
              <a:t> integration demonstrated full </a:t>
            </a:r>
            <a:r>
              <a:rPr sz="2400" dirty="0" err="1"/>
              <a:t>MLOps</a:t>
            </a:r>
            <a:r>
              <a:rPr sz="2400" dirty="0"/>
              <a:t> pipeline potential.</a:t>
            </a:r>
          </a:p>
          <a:p>
            <a:r>
              <a:rPr sz="2400" dirty="0"/>
              <a:t>Clear link found between engagement depth and ad monetization.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53" y="484632"/>
            <a:ext cx="8052847" cy="1410156"/>
          </a:xfrm>
        </p:spPr>
        <p:txBody>
          <a:bodyPr/>
          <a:lstStyle/>
          <a:p>
            <a:pPr algn="ctr"/>
            <a:r>
              <a:rPr dirty="0"/>
              <a:t>Final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Built an end-to-end YouTube Ad Revenue Predictor using ML.</a:t>
            </a:r>
          </a:p>
          <a:p>
            <a:r>
              <a:rPr sz="2400" dirty="0"/>
              <a:t>Dataset: 122K+ videos, multiple engagement metrics.</a:t>
            </a:r>
          </a:p>
          <a:p>
            <a:r>
              <a:rPr sz="2400" dirty="0"/>
              <a:t>Best Model: Linear Regression (R² = 0.</a:t>
            </a:r>
            <a:r>
              <a:rPr lang="en-US" sz="2400" dirty="0"/>
              <a:t>95</a:t>
            </a:r>
            <a:r>
              <a:rPr sz="2400" dirty="0"/>
              <a:t>2).</a:t>
            </a:r>
          </a:p>
          <a:p>
            <a:r>
              <a:rPr sz="2400" dirty="0"/>
              <a:t>Deployment: </a:t>
            </a:r>
            <a:r>
              <a:rPr sz="2400" dirty="0" err="1"/>
              <a:t>Streamlit</a:t>
            </a:r>
            <a:r>
              <a:rPr sz="2400" dirty="0"/>
              <a:t> app with manual + YouTube API modes.</a:t>
            </a:r>
          </a:p>
          <a:p>
            <a:r>
              <a:rPr sz="2400" dirty="0"/>
              <a:t>Insight: Engagement rate and watch time are strongest revenue drivers.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415</TotalTime>
  <Words>558</Words>
  <Application>Microsoft Office PowerPoint</Application>
  <PresentationFormat>On-screen Show (4:3)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Rockwell</vt:lpstr>
      <vt:lpstr>Rockwell Condensed</vt:lpstr>
      <vt:lpstr>Wingdings</vt:lpstr>
      <vt:lpstr>Wood Type</vt:lpstr>
      <vt:lpstr> YouTube Ad Revenue Prediction using Machine Learning</vt:lpstr>
      <vt:lpstr>Project Overview</vt:lpstr>
      <vt:lpstr>Dataset Overview</vt:lpstr>
      <vt:lpstr>Feature Engineering</vt:lpstr>
      <vt:lpstr>EDA Highlights</vt:lpstr>
      <vt:lpstr>Model Comparison</vt:lpstr>
      <vt:lpstr>Model Insights</vt:lpstr>
      <vt:lpstr>Deployed Model – Linear Regression</vt:lpstr>
      <vt:lpstr>Key Business Insights</vt:lpstr>
      <vt:lpstr>Learnings &amp; Takeaways</vt:lpstr>
      <vt:lpstr>Final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Sarath Buji</cp:lastModifiedBy>
  <cp:revision>7</cp:revision>
  <dcterms:created xsi:type="dcterms:W3CDTF">2013-01-27T09:14:16Z</dcterms:created>
  <dcterms:modified xsi:type="dcterms:W3CDTF">2025-12-16T12:22:44Z</dcterms:modified>
  <cp:category/>
</cp:coreProperties>
</file>